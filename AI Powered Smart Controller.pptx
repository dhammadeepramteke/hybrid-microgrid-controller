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69" r:id="rId4"/>
    <p:sldId id="258" r:id="rId5"/>
    <p:sldId id="259" r:id="rId6"/>
    <p:sldId id="264" r:id="rId7"/>
    <p:sldId id="265" r:id="rId8"/>
    <p:sldId id="260" r:id="rId9"/>
    <p:sldId id="261" r:id="rId10"/>
    <p:sldId id="263" r:id="rId11"/>
    <p:sldId id="266" r:id="rId12"/>
    <p:sldId id="262"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5" d="100"/>
          <a:sy n="75" d="100"/>
        </p:scale>
        <p:origin x="974" y="269"/>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DhammadeepRamteke/hybrid-microgrid-controller" TargetMode="External"/><Relationship Id="rId2" Type="http://schemas.openxmlformats.org/officeDocument/2006/relationships/hyperlink" Target="https://hybrid-microgrid-controller.streamlit.app/"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277402"/>
            <a:ext cx="12192000" cy="7135402"/>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572925" y="2258906"/>
            <a:ext cx="6870861" cy="830997"/>
          </a:xfrm>
          <a:prstGeom prst="rect">
            <a:avLst/>
          </a:prstGeom>
          <a:noFill/>
        </p:spPr>
        <p:txBody>
          <a:bodyPr wrap="square" rtlCol="0">
            <a:spAutoFit/>
          </a:bodyPr>
          <a:lstStyle/>
          <a:p>
            <a:pPr algn="ctr"/>
            <a:r>
              <a:rPr lang="en-IN" sz="2400" b="1" dirty="0">
                <a:solidFill>
                  <a:schemeClr val="bg1"/>
                </a:solidFill>
              </a:rPr>
              <a:t>AI-Powered Smart Controller for a Hybrid Microgrid</a:t>
            </a:r>
            <a:endParaRPr lang="en-US" sz="2800" b="1" dirty="0">
              <a:solidFill>
                <a:schemeClr val="bg1"/>
              </a:solidFill>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11" name="TextBox 10">
            <a:extLst>
              <a:ext uri="{FF2B5EF4-FFF2-40B4-BE49-F238E27FC236}">
                <a16:creationId xmlns:a16="http://schemas.microsoft.com/office/drawing/2014/main" id="{98E36E6E-AF23-4607-A674-DFBDC0EBFAD1}"/>
              </a:ext>
            </a:extLst>
          </p:cNvPr>
          <p:cNvSpPr txBox="1"/>
          <p:nvPr/>
        </p:nvSpPr>
        <p:spPr>
          <a:xfrm>
            <a:off x="4924682" y="4482435"/>
            <a:ext cx="6177280" cy="379656"/>
          </a:xfrm>
          <a:prstGeom prst="rect">
            <a:avLst/>
          </a:prstGeom>
          <a:noFill/>
        </p:spPr>
        <p:txBody>
          <a:bodyPr wrap="square">
            <a:spAutoFit/>
          </a:bodyPr>
          <a:lstStyle/>
          <a:p>
            <a:r>
              <a:rPr lang="en-US" b="1" dirty="0"/>
              <a:t>Presented By :</a:t>
            </a:r>
            <a:r>
              <a:rPr lang="en-US" dirty="0"/>
              <a:t> Sanjana Sudhakar </a:t>
            </a:r>
            <a:r>
              <a:rPr lang="en-US" dirty="0" err="1"/>
              <a:t>Dhabale</a:t>
            </a:r>
            <a:endParaRPr lang="en-IN" dirty="0"/>
          </a:p>
        </p:txBody>
      </p:sp>
      <p:sp>
        <p:nvSpPr>
          <p:cNvPr id="13" name="TextBox 12">
            <a:extLst>
              <a:ext uri="{FF2B5EF4-FFF2-40B4-BE49-F238E27FC236}">
                <a16:creationId xmlns:a16="http://schemas.microsoft.com/office/drawing/2014/main" id="{F10D51F5-D1B4-4926-9C19-2F6DB0C06861}"/>
              </a:ext>
            </a:extLst>
          </p:cNvPr>
          <p:cNvSpPr txBox="1"/>
          <p:nvPr/>
        </p:nvSpPr>
        <p:spPr>
          <a:xfrm>
            <a:off x="4924682" y="4888984"/>
            <a:ext cx="6101080" cy="379656"/>
          </a:xfrm>
          <a:prstGeom prst="rect">
            <a:avLst/>
          </a:prstGeom>
          <a:noFill/>
        </p:spPr>
        <p:txBody>
          <a:bodyPr wrap="square">
            <a:spAutoFit/>
          </a:bodyPr>
          <a:lstStyle/>
          <a:p>
            <a:r>
              <a:rPr lang="en-IN" b="1" dirty="0"/>
              <a:t>AICTE Student ID :</a:t>
            </a:r>
            <a:r>
              <a:rPr lang="en-IN" dirty="0"/>
              <a:t> STU676aa333947fe1735041843</a:t>
            </a:r>
          </a:p>
        </p:txBody>
      </p:sp>
      <p:sp>
        <p:nvSpPr>
          <p:cNvPr id="15" name="TextBox 14">
            <a:extLst>
              <a:ext uri="{FF2B5EF4-FFF2-40B4-BE49-F238E27FC236}">
                <a16:creationId xmlns:a16="http://schemas.microsoft.com/office/drawing/2014/main" id="{DF94EA94-3BA3-40AE-A8E1-CCE82C3D4D79}"/>
              </a:ext>
            </a:extLst>
          </p:cNvPr>
          <p:cNvSpPr txBox="1"/>
          <p:nvPr/>
        </p:nvSpPr>
        <p:spPr>
          <a:xfrm>
            <a:off x="4824970" y="3491522"/>
            <a:ext cx="6366773" cy="666977"/>
          </a:xfrm>
          <a:prstGeom prst="rect">
            <a:avLst/>
          </a:prstGeom>
          <a:noFill/>
        </p:spPr>
        <p:txBody>
          <a:bodyPr wrap="square">
            <a:spAutoFit/>
          </a:bodyPr>
          <a:lstStyle/>
          <a:p>
            <a:pPr algn="ctr"/>
            <a:r>
              <a:rPr lang="en-US" dirty="0">
                <a:solidFill>
                  <a:schemeClr val="bg1"/>
                </a:solidFill>
              </a:rPr>
              <a:t>A "Green Skills" Project for the Shell-</a:t>
            </a:r>
            <a:r>
              <a:rPr lang="en-US" dirty="0" err="1">
                <a:solidFill>
                  <a:schemeClr val="bg1"/>
                </a:solidFill>
              </a:rPr>
              <a:t>Edunet</a:t>
            </a:r>
            <a:r>
              <a:rPr lang="en-US" dirty="0">
                <a:solidFill>
                  <a:schemeClr val="bg1"/>
                </a:solidFill>
              </a:rPr>
              <a:t> Skills4Future AICTE Internship</a:t>
            </a:r>
          </a:p>
        </p:txBody>
      </p:sp>
      <p:sp>
        <p:nvSpPr>
          <p:cNvPr id="12" name="TextBox 11">
            <a:extLst>
              <a:ext uri="{FF2B5EF4-FFF2-40B4-BE49-F238E27FC236}">
                <a16:creationId xmlns:a16="http://schemas.microsoft.com/office/drawing/2014/main" id="{E47CA0A1-88C9-4CE7-92EE-036CFD92E31F}"/>
              </a:ext>
            </a:extLst>
          </p:cNvPr>
          <p:cNvSpPr txBox="1"/>
          <p:nvPr/>
        </p:nvSpPr>
        <p:spPr>
          <a:xfrm>
            <a:off x="4915721" y="5268639"/>
            <a:ext cx="6366773" cy="379656"/>
          </a:xfrm>
          <a:prstGeom prst="rect">
            <a:avLst/>
          </a:prstGeom>
          <a:noFill/>
        </p:spPr>
        <p:txBody>
          <a:bodyPr wrap="square">
            <a:spAutoFit/>
          </a:bodyPr>
          <a:lstStyle/>
          <a:p>
            <a:r>
              <a:rPr lang="en-IN" b="1" dirty="0"/>
              <a:t>Internship ID : </a:t>
            </a:r>
            <a:r>
              <a:rPr lang="en-IN" dirty="0"/>
              <a:t>INTERNSHIP_175683301568b724f7b9fba</a:t>
            </a:r>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374791" y="957297"/>
            <a:ext cx="4349609" cy="584775"/>
          </a:xfrm>
          <a:prstGeom prst="rect">
            <a:avLst/>
          </a:prstGeom>
          <a:noFill/>
        </p:spPr>
        <p:txBody>
          <a:bodyPr wrap="square">
            <a:spAutoFit/>
          </a:bodyPr>
          <a:lstStyle/>
          <a:p>
            <a:r>
              <a:rPr lang="en-IN" sz="3200" b="1" dirty="0">
                <a:solidFill>
                  <a:srgbClr val="213163"/>
                </a:solidFill>
                <a:latin typeface="Cambria" panose="02040503050406030204" pitchFamily="18" charset="0"/>
                <a:ea typeface="Cambria" panose="02040503050406030204" pitchFamily="18" charset="0"/>
              </a:rPr>
              <a:t>Learning Objectives</a:t>
            </a:r>
            <a:endParaRPr lang="en-IN" sz="3200" dirty="0">
              <a:solidFill>
                <a:srgbClr val="213163"/>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65568A5-4910-4700-AB1C-64853C751D8D}"/>
              </a:ext>
            </a:extLst>
          </p:cNvPr>
          <p:cNvSpPr txBox="1"/>
          <p:nvPr/>
        </p:nvSpPr>
        <p:spPr>
          <a:xfrm>
            <a:off x="476391" y="1997839"/>
            <a:ext cx="10942320" cy="2862322"/>
          </a:xfrm>
          <a:prstGeom prst="rect">
            <a:avLst/>
          </a:prstGeom>
          <a:noFill/>
        </p:spPr>
        <p:txBody>
          <a:bodyPr wrap="square">
            <a:spAutoFit/>
          </a:bodyPr>
          <a:lstStyle/>
          <a:p>
            <a:pPr marL="342900" indent="-342900" rtl="0">
              <a:spcBef>
                <a:spcPts val="0"/>
              </a:spcBef>
              <a:spcAft>
                <a:spcPts val="0"/>
              </a:spcAft>
              <a:buFont typeface="Arial" panose="020B0604020202020204" pitchFamily="34" charset="0"/>
              <a:buChar char="•"/>
            </a:pPr>
            <a:r>
              <a:rPr lang="en-US" sz="2000" b="0" i="0" u="none" strike="noStrike" dirty="0">
                <a:solidFill>
                  <a:srgbClr val="000000"/>
                </a:solidFill>
                <a:effectLst/>
                <a:latin typeface="Cambria" panose="02040503050406030204" pitchFamily="18" charset="0"/>
                <a:ea typeface="Cambria" panose="02040503050406030204" pitchFamily="18" charset="0"/>
              </a:rPr>
              <a:t>Apply Machine Learning (</a:t>
            </a:r>
            <a:r>
              <a:rPr lang="en-US" sz="2000" b="0" i="0" u="none" strike="noStrike" dirty="0" err="1">
                <a:solidFill>
                  <a:srgbClr val="000000"/>
                </a:solidFill>
                <a:effectLst/>
                <a:latin typeface="Cambria" panose="02040503050406030204" pitchFamily="18" charset="0"/>
                <a:ea typeface="Cambria" panose="02040503050406030204" pitchFamily="18" charset="0"/>
              </a:rPr>
              <a:t>XGBoost</a:t>
            </a:r>
            <a:r>
              <a:rPr lang="en-US" sz="2000" b="0" i="0" u="none" strike="noStrike" dirty="0">
                <a:solidFill>
                  <a:srgbClr val="000000"/>
                </a:solidFill>
                <a:effectLst/>
                <a:latin typeface="Cambria" panose="02040503050406030204" pitchFamily="18" charset="0"/>
                <a:ea typeface="Cambria" panose="02040503050406030204" pitchFamily="18" charset="0"/>
              </a:rPr>
              <a:t>) to solve a complex time-series forecasting problem for three different variables (Solar, Wind, and Load). </a:t>
            </a:r>
            <a:endParaRPr lang="en-US" sz="2000" b="0" dirty="0">
              <a:effectLst/>
              <a:latin typeface="Cambria" panose="02040503050406030204" pitchFamily="18" charset="0"/>
              <a:ea typeface="Cambria" panose="02040503050406030204" pitchFamily="18" charset="0"/>
            </a:endParaRPr>
          </a:p>
          <a:p>
            <a:pPr marL="342900" indent="-342900" rtl="0">
              <a:spcBef>
                <a:spcPts val="0"/>
              </a:spcBef>
              <a:spcAft>
                <a:spcPts val="0"/>
              </a:spcAft>
              <a:buFont typeface="Arial" panose="020B0604020202020204" pitchFamily="34" charset="0"/>
              <a:buChar char="•"/>
            </a:pPr>
            <a:r>
              <a:rPr lang="en-US" sz="2000" b="1" i="0" u="none" strike="noStrike" dirty="0">
                <a:solidFill>
                  <a:srgbClr val="000000"/>
                </a:solidFill>
                <a:effectLst/>
                <a:latin typeface="Cambria" panose="02040503050406030204" pitchFamily="18" charset="0"/>
                <a:ea typeface="Cambria" panose="02040503050406030204" pitchFamily="18" charset="0"/>
              </a:rPr>
              <a:t>Build a complete end-to-end ML pipeline :</a:t>
            </a:r>
            <a:r>
              <a:rPr lang="en-US" sz="2000" b="0" i="0" u="none" strike="noStrike" dirty="0">
                <a:solidFill>
                  <a:srgbClr val="000000"/>
                </a:solidFill>
                <a:effectLst/>
                <a:latin typeface="Cambria" panose="02040503050406030204" pitchFamily="18" charset="0"/>
                <a:ea typeface="Cambria" panose="02040503050406030204" pitchFamily="18" charset="0"/>
              </a:rPr>
              <a:t> Data Preprocessing (Week 1) → Model Training (Week 2) → Simulation (Week 3). </a:t>
            </a:r>
            <a:endParaRPr lang="en-US" sz="2000" b="0" dirty="0">
              <a:effectLst/>
              <a:latin typeface="Cambria" panose="02040503050406030204" pitchFamily="18" charset="0"/>
              <a:ea typeface="Cambria" panose="02040503050406030204" pitchFamily="18" charset="0"/>
            </a:endParaRPr>
          </a:p>
          <a:p>
            <a:pPr marL="342900" indent="-342900" rtl="0">
              <a:spcBef>
                <a:spcPts val="0"/>
              </a:spcBef>
              <a:spcAft>
                <a:spcPts val="0"/>
              </a:spcAft>
              <a:buFont typeface="Arial" panose="020B0604020202020204" pitchFamily="34" charset="0"/>
              <a:buChar char="•"/>
            </a:pPr>
            <a:r>
              <a:rPr lang="en-US" sz="2000" b="0" i="0" u="none" strike="noStrike" dirty="0">
                <a:solidFill>
                  <a:srgbClr val="000000"/>
                </a:solidFill>
                <a:effectLst/>
                <a:latin typeface="Cambria" panose="02040503050406030204" pitchFamily="18" charset="0"/>
                <a:ea typeface="Cambria" panose="02040503050406030204" pitchFamily="18" charset="0"/>
              </a:rPr>
              <a:t>Develop a complex decision-making algorithm (the "Smart Controller") that uses the model's predictions to manage a battery. </a:t>
            </a:r>
            <a:endParaRPr lang="en-US" sz="2000" b="0" dirty="0">
              <a:effectLst/>
              <a:latin typeface="Cambria" panose="02040503050406030204" pitchFamily="18" charset="0"/>
              <a:ea typeface="Cambria" panose="02040503050406030204" pitchFamily="18" charset="0"/>
            </a:endParaRPr>
          </a:p>
          <a:p>
            <a:pPr marL="342900" indent="-342900" rtl="0">
              <a:spcBef>
                <a:spcPts val="0"/>
              </a:spcBef>
              <a:spcAft>
                <a:spcPts val="0"/>
              </a:spcAft>
              <a:buFont typeface="Arial" panose="020B0604020202020204" pitchFamily="34" charset="0"/>
              <a:buChar char="•"/>
            </a:pPr>
            <a:r>
              <a:rPr lang="en-US" sz="2000" b="0" i="0" u="none" strike="noStrike" dirty="0">
                <a:solidFill>
                  <a:srgbClr val="000000"/>
                </a:solidFill>
                <a:effectLst/>
                <a:latin typeface="Cambria" panose="02040503050406030204" pitchFamily="18" charset="0"/>
                <a:ea typeface="Cambria" panose="02040503050406030204" pitchFamily="18" charset="0"/>
              </a:rPr>
              <a:t>Evaluate the system's performance using both ML metrics (R² Score) and practical system metrics (Battery State of Charge, Grid Exchange). </a:t>
            </a:r>
            <a:endParaRPr lang="en-US" sz="2000" b="0" dirty="0">
              <a:effectLst/>
              <a:latin typeface="Cambria" panose="02040503050406030204" pitchFamily="18" charset="0"/>
              <a:ea typeface="Cambria" panose="02040503050406030204" pitchFamily="18" charset="0"/>
            </a:endParaRPr>
          </a:p>
          <a:p>
            <a:pPr marL="342900" indent="-342900" rtl="0">
              <a:spcBef>
                <a:spcPts val="0"/>
              </a:spcBef>
              <a:spcAft>
                <a:spcPts val="0"/>
              </a:spcAft>
              <a:buFont typeface="Arial" panose="020B0604020202020204" pitchFamily="34" charset="0"/>
              <a:buChar char="•"/>
            </a:pPr>
            <a:r>
              <a:rPr lang="en-US" sz="2000" b="0" i="0" u="none" strike="noStrike" dirty="0">
                <a:solidFill>
                  <a:srgbClr val="000000"/>
                </a:solidFill>
                <a:effectLst/>
                <a:latin typeface="Cambria" panose="02040503050406030204" pitchFamily="18" charset="0"/>
                <a:ea typeface="Cambria" panose="02040503050406030204" pitchFamily="18" charset="0"/>
              </a:rPr>
              <a:t>Deploy the entire system as a live, interactive web application using </a:t>
            </a:r>
            <a:r>
              <a:rPr lang="en-US" sz="2000" b="0" i="0" u="none" strike="noStrike" dirty="0" err="1">
                <a:solidFill>
                  <a:srgbClr val="000000"/>
                </a:solidFill>
                <a:effectLst/>
                <a:latin typeface="Cambria" panose="02040503050406030204" pitchFamily="18" charset="0"/>
                <a:ea typeface="Cambria" panose="02040503050406030204" pitchFamily="18" charset="0"/>
              </a:rPr>
              <a:t>Streamlit</a:t>
            </a:r>
            <a:r>
              <a:rPr lang="en-US" sz="2000" b="0" i="0" u="none" strike="noStrike" dirty="0">
                <a:solidFill>
                  <a:srgbClr val="000000"/>
                </a:solidFill>
                <a:effectLst/>
                <a:latin typeface="Cambria" panose="02040503050406030204" pitchFamily="18" charset="0"/>
                <a:ea typeface="Cambria" panose="02040503050406030204" pitchFamily="18" charset="0"/>
              </a:rPr>
              <a:t>. </a:t>
            </a:r>
            <a:endParaRPr lang="en-US" sz="2000" b="0"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374791" y="957297"/>
            <a:ext cx="4349609" cy="584775"/>
          </a:xfrm>
          <a:prstGeom prst="rect">
            <a:avLst/>
          </a:prstGeom>
          <a:noFill/>
        </p:spPr>
        <p:txBody>
          <a:bodyPr wrap="square">
            <a:spAutoFit/>
          </a:bodyPr>
          <a:lstStyle/>
          <a:p>
            <a:r>
              <a:rPr lang="en-IN" sz="3200" b="1" dirty="0">
                <a:solidFill>
                  <a:srgbClr val="213163"/>
                </a:solidFill>
                <a:latin typeface="Cambria" panose="02040503050406030204" pitchFamily="18" charset="0"/>
                <a:ea typeface="Cambria" panose="02040503050406030204" pitchFamily="18" charset="0"/>
              </a:rPr>
              <a:t>Goal</a:t>
            </a:r>
            <a:endParaRPr lang="en-IN" sz="3200" dirty="0">
              <a:solidFill>
                <a:srgbClr val="213163"/>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9" name="TextBox 8">
            <a:extLst>
              <a:ext uri="{FF2B5EF4-FFF2-40B4-BE49-F238E27FC236}">
                <a16:creationId xmlns:a16="http://schemas.microsoft.com/office/drawing/2014/main" id="{865568A5-4910-4700-AB1C-64853C751D8D}"/>
              </a:ext>
            </a:extLst>
          </p:cNvPr>
          <p:cNvSpPr txBox="1"/>
          <p:nvPr/>
        </p:nvSpPr>
        <p:spPr>
          <a:xfrm>
            <a:off x="471311" y="2151727"/>
            <a:ext cx="6127609" cy="2554545"/>
          </a:xfrm>
          <a:prstGeom prst="rect">
            <a:avLst/>
          </a:prstGeom>
          <a:noFill/>
        </p:spPr>
        <p:txBody>
          <a:bodyPr wrap="square">
            <a:spAutoFit/>
          </a:bodyPr>
          <a:lstStyle/>
          <a:p>
            <a:pPr marL="342900" indent="-342900" rtl="0">
              <a:spcBef>
                <a:spcPts val="0"/>
              </a:spcBef>
              <a:spcAft>
                <a:spcPts val="0"/>
              </a:spcAft>
              <a:buFont typeface="Arial" panose="020B0604020202020204" pitchFamily="34" charset="0"/>
              <a:buChar char="•"/>
            </a:pPr>
            <a:r>
              <a:rPr lang="en-US" sz="2000" b="0" i="0" u="none" strike="noStrike" dirty="0">
                <a:solidFill>
                  <a:srgbClr val="000000"/>
                </a:solidFill>
                <a:effectLst/>
                <a:latin typeface="Cambria" panose="02040503050406030204" pitchFamily="18" charset="0"/>
                <a:ea typeface="Cambria" panose="02040503050406030204" pitchFamily="18" charset="0"/>
              </a:rPr>
              <a:t>To design and build an intelligent AI controller that accurately forecasts energy generation (Solar/Wind) and user demand (Load). </a:t>
            </a:r>
            <a:endParaRPr lang="en-US" sz="2000" b="0" dirty="0">
              <a:effectLst/>
              <a:latin typeface="Cambria" panose="02040503050406030204" pitchFamily="18" charset="0"/>
              <a:ea typeface="Cambria" panose="02040503050406030204" pitchFamily="18" charset="0"/>
            </a:endParaRPr>
          </a:p>
          <a:p>
            <a:pPr marL="342900" indent="-342900" rtl="0">
              <a:spcBef>
                <a:spcPts val="0"/>
              </a:spcBef>
              <a:spcAft>
                <a:spcPts val="0"/>
              </a:spcAft>
              <a:buFont typeface="Arial" panose="020B0604020202020204" pitchFamily="34" charset="0"/>
              <a:buChar char="•"/>
            </a:pPr>
            <a:r>
              <a:rPr lang="en-US" sz="2000" b="0" i="0" u="none" strike="noStrike" dirty="0">
                <a:solidFill>
                  <a:srgbClr val="000000"/>
                </a:solidFill>
                <a:effectLst/>
                <a:latin typeface="Cambria" panose="02040503050406030204" pitchFamily="18" charset="0"/>
                <a:ea typeface="Cambria" panose="02040503050406030204" pitchFamily="18" charset="0"/>
              </a:rPr>
              <a:t>The system must use these forecasts to autonomously decide the most optimal action (Charge Battery, Discharge Battery, or Buy/Sell from Grid) to ensure the microgrid remains stable, reliable, and cost-effective. </a:t>
            </a:r>
            <a:endParaRPr lang="en-US" sz="2000" b="0"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29725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547314" y="1067664"/>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T</a:t>
            </a:r>
            <a:r>
              <a:rPr lang="en-IN" sz="3200" b="1" dirty="0" err="1">
                <a:solidFill>
                  <a:srgbClr val="213163"/>
                </a:solidFill>
                <a:latin typeface="Cambria" panose="02040503050406030204" pitchFamily="18" charset="0"/>
                <a:ea typeface="Cambria" panose="02040503050406030204" pitchFamily="18" charset="0"/>
              </a:rPr>
              <a:t>ools</a:t>
            </a:r>
            <a:r>
              <a:rPr lang="en-IN" sz="3200" b="1" dirty="0">
                <a:solidFill>
                  <a:srgbClr val="213163"/>
                </a:solidFill>
                <a:latin typeface="Cambria" panose="02040503050406030204" pitchFamily="18" charset="0"/>
                <a:ea typeface="Cambria" panose="02040503050406030204" pitchFamily="18" charset="0"/>
              </a:rPr>
              <a:t> and Technology used </a:t>
            </a:r>
          </a:p>
        </p:txBody>
      </p:sp>
      <p:sp>
        <p:nvSpPr>
          <p:cNvPr id="8" name="Rectangle 5">
            <a:extLst>
              <a:ext uri="{FF2B5EF4-FFF2-40B4-BE49-F238E27FC236}">
                <a16:creationId xmlns:a16="http://schemas.microsoft.com/office/drawing/2014/main" id="{49C2EC10-F248-4075-900A-7533A582687B}"/>
              </a:ext>
            </a:extLst>
          </p:cNvPr>
          <p:cNvSpPr>
            <a:spLocks noChangeArrowheads="1"/>
          </p:cNvSpPr>
          <p:nvPr/>
        </p:nvSpPr>
        <p:spPr bwMode="auto">
          <a:xfrm rot="10800000" flipH="1" flipV="1">
            <a:off x="746760" y="2206062"/>
            <a:ext cx="854964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rtl="0">
              <a:spcBef>
                <a:spcPts val="0"/>
              </a:spcBef>
              <a:spcAft>
                <a:spcPts val="0"/>
              </a:spcAft>
              <a:buFont typeface="Arial" panose="020B0604020202020204" pitchFamily="34" charset="0"/>
              <a:buChar char="•"/>
            </a:pPr>
            <a:r>
              <a:rPr lang="en-IN" sz="2000" b="1" i="0" u="none" strike="noStrike" dirty="0">
                <a:solidFill>
                  <a:srgbClr val="000000"/>
                </a:solidFill>
                <a:effectLst/>
                <a:latin typeface="Cambria" panose="02040503050406030204" pitchFamily="18" charset="0"/>
                <a:ea typeface="Cambria" panose="02040503050406030204" pitchFamily="18" charset="0"/>
              </a:rPr>
              <a:t>Programming Language : </a:t>
            </a:r>
            <a:r>
              <a:rPr lang="en-IN" sz="2000" b="0" i="0" u="none" strike="noStrike" dirty="0">
                <a:solidFill>
                  <a:srgbClr val="000000"/>
                </a:solidFill>
                <a:effectLst/>
                <a:latin typeface="Cambria" panose="02040503050406030204" pitchFamily="18" charset="0"/>
                <a:ea typeface="Cambria" panose="02040503050406030204" pitchFamily="18" charset="0"/>
              </a:rPr>
              <a:t>Python </a:t>
            </a:r>
            <a:endParaRPr lang="en-IN" sz="2000" b="0" dirty="0">
              <a:effectLst/>
              <a:latin typeface="Cambria" panose="02040503050406030204" pitchFamily="18" charset="0"/>
              <a:ea typeface="Cambria" panose="02040503050406030204" pitchFamily="18" charset="0"/>
            </a:endParaRPr>
          </a:p>
          <a:p>
            <a:pPr marL="342900" indent="-342900" rtl="0">
              <a:spcBef>
                <a:spcPts val="0"/>
              </a:spcBef>
              <a:spcAft>
                <a:spcPts val="0"/>
              </a:spcAft>
              <a:buFont typeface="Arial" panose="020B0604020202020204" pitchFamily="34" charset="0"/>
              <a:buChar char="•"/>
            </a:pPr>
            <a:r>
              <a:rPr lang="en-IN" sz="2000" b="1" i="0" u="none" strike="noStrike" dirty="0">
                <a:solidFill>
                  <a:srgbClr val="000000"/>
                </a:solidFill>
                <a:effectLst/>
                <a:latin typeface="Cambria" panose="02040503050406030204" pitchFamily="18" charset="0"/>
                <a:ea typeface="Cambria" panose="02040503050406030204" pitchFamily="18" charset="0"/>
              </a:rPr>
              <a:t>Data Handling &amp; Analysis : </a:t>
            </a:r>
            <a:r>
              <a:rPr lang="en-IN" sz="2000" b="0" i="0" u="none" strike="noStrike" dirty="0">
                <a:solidFill>
                  <a:srgbClr val="000000"/>
                </a:solidFill>
                <a:effectLst/>
                <a:latin typeface="Cambria" panose="02040503050406030204" pitchFamily="18" charset="0"/>
                <a:ea typeface="Cambria" panose="02040503050406030204" pitchFamily="18" charset="0"/>
              </a:rPr>
              <a:t>Pandas, NumPy </a:t>
            </a:r>
            <a:endParaRPr lang="en-IN" sz="2000" b="0" dirty="0">
              <a:effectLst/>
              <a:latin typeface="Cambria" panose="02040503050406030204" pitchFamily="18" charset="0"/>
              <a:ea typeface="Cambria" panose="02040503050406030204" pitchFamily="18" charset="0"/>
            </a:endParaRPr>
          </a:p>
          <a:p>
            <a:pPr marL="342900" indent="-342900" rtl="0">
              <a:spcBef>
                <a:spcPts val="0"/>
              </a:spcBef>
              <a:spcAft>
                <a:spcPts val="0"/>
              </a:spcAft>
              <a:buFont typeface="Arial" panose="020B0604020202020204" pitchFamily="34" charset="0"/>
              <a:buChar char="•"/>
            </a:pPr>
            <a:r>
              <a:rPr lang="en-IN" sz="2000" b="1" i="0" u="none" strike="noStrike" dirty="0">
                <a:solidFill>
                  <a:srgbClr val="000000"/>
                </a:solidFill>
                <a:effectLst/>
                <a:latin typeface="Cambria" panose="02040503050406030204" pitchFamily="18" charset="0"/>
                <a:ea typeface="Cambria" panose="02040503050406030204" pitchFamily="18" charset="0"/>
              </a:rPr>
              <a:t>Machine Learning : </a:t>
            </a:r>
            <a:endParaRPr lang="en-IN" sz="2000" b="1" dirty="0">
              <a:effectLst/>
              <a:latin typeface="Cambria" panose="02040503050406030204" pitchFamily="18" charset="0"/>
              <a:ea typeface="Cambria" panose="02040503050406030204" pitchFamily="18" charset="0"/>
            </a:endParaRPr>
          </a:p>
          <a:p>
            <a:pPr marL="342900" lvl="2" indent="-342900">
              <a:buFont typeface="Wingdings" panose="05000000000000000000" pitchFamily="2" charset="2"/>
              <a:buChar char="Ø"/>
            </a:pPr>
            <a:r>
              <a:rPr lang="en-IN" sz="2000" b="1" i="0" u="none" strike="noStrike" dirty="0">
                <a:solidFill>
                  <a:srgbClr val="000000"/>
                </a:solidFill>
                <a:effectLst/>
                <a:latin typeface="Cambria" panose="02040503050406030204" pitchFamily="18" charset="0"/>
                <a:ea typeface="Cambria" panose="02040503050406030204" pitchFamily="18" charset="0"/>
              </a:rPr>
              <a:t>Scikit-learn : </a:t>
            </a:r>
            <a:r>
              <a:rPr lang="en-IN" sz="2000" b="0" i="0" u="none" strike="noStrike" dirty="0">
                <a:solidFill>
                  <a:srgbClr val="000000"/>
                </a:solidFill>
                <a:effectLst/>
                <a:latin typeface="Cambria" panose="02040503050406030204" pitchFamily="18" charset="0"/>
                <a:ea typeface="Cambria" panose="02040503050406030204" pitchFamily="18" charset="0"/>
              </a:rPr>
              <a:t>For </a:t>
            </a:r>
            <a:r>
              <a:rPr lang="en-IN" sz="2000" b="0" i="0" u="none" strike="noStrike" dirty="0" err="1">
                <a:solidFill>
                  <a:srgbClr val="000000"/>
                </a:solidFill>
                <a:effectLst/>
                <a:latin typeface="Cambria" panose="02040503050406030204" pitchFamily="18" charset="0"/>
                <a:ea typeface="Cambria" panose="02040503050406030204" pitchFamily="18" charset="0"/>
              </a:rPr>
              <a:t>StandardScaler</a:t>
            </a:r>
            <a:r>
              <a:rPr lang="en-IN" sz="2000" b="0" i="0" u="none" strike="noStrike" dirty="0">
                <a:solidFill>
                  <a:srgbClr val="000000"/>
                </a:solidFill>
                <a:effectLst/>
                <a:latin typeface="Cambria" panose="02040503050406030204" pitchFamily="18" charset="0"/>
                <a:ea typeface="Cambria" panose="02040503050406030204" pitchFamily="18" charset="0"/>
              </a:rPr>
              <a:t> and </a:t>
            </a:r>
            <a:r>
              <a:rPr lang="en-IN" sz="2000" b="0" i="0" u="none" strike="noStrike" dirty="0" err="1">
                <a:solidFill>
                  <a:srgbClr val="000000"/>
                </a:solidFill>
                <a:effectLst/>
                <a:latin typeface="Cambria" panose="02040503050406030204" pitchFamily="18" charset="0"/>
                <a:ea typeface="Cambria" panose="02040503050406030204" pitchFamily="18" charset="0"/>
              </a:rPr>
              <a:t>train_test_split</a:t>
            </a:r>
            <a:r>
              <a:rPr lang="en-IN" sz="2000" b="0" i="0" u="none" strike="noStrike" dirty="0">
                <a:solidFill>
                  <a:srgbClr val="000000"/>
                </a:solidFill>
                <a:effectLst/>
                <a:latin typeface="Cambria" panose="02040503050406030204" pitchFamily="18" charset="0"/>
                <a:ea typeface="Cambria" panose="02040503050406030204" pitchFamily="18" charset="0"/>
              </a:rPr>
              <a:t>. </a:t>
            </a:r>
            <a:endParaRPr lang="en-IN" sz="2000" b="0" dirty="0">
              <a:effectLst/>
              <a:latin typeface="Cambria" panose="02040503050406030204" pitchFamily="18" charset="0"/>
              <a:ea typeface="Cambria" panose="02040503050406030204" pitchFamily="18" charset="0"/>
            </a:endParaRPr>
          </a:p>
          <a:p>
            <a:pPr marL="342900" lvl="2" indent="-342900">
              <a:buFont typeface="Wingdings" panose="05000000000000000000" pitchFamily="2" charset="2"/>
              <a:buChar char="Ø"/>
            </a:pPr>
            <a:r>
              <a:rPr lang="en-IN" sz="2000" b="1" i="0" u="none" strike="noStrike" dirty="0" err="1">
                <a:solidFill>
                  <a:srgbClr val="000000"/>
                </a:solidFill>
                <a:effectLst/>
                <a:latin typeface="Cambria" panose="02040503050406030204" pitchFamily="18" charset="0"/>
                <a:ea typeface="Cambria" panose="02040503050406030204" pitchFamily="18" charset="0"/>
              </a:rPr>
              <a:t>XGBoost</a:t>
            </a:r>
            <a:r>
              <a:rPr lang="en-IN" sz="2000" b="1" i="0" u="none" strike="noStrike" dirty="0">
                <a:solidFill>
                  <a:srgbClr val="000000"/>
                </a:solidFill>
                <a:effectLst/>
                <a:latin typeface="Cambria" panose="02040503050406030204" pitchFamily="18" charset="0"/>
                <a:ea typeface="Cambria" panose="02040503050406030204" pitchFamily="18" charset="0"/>
              </a:rPr>
              <a:t> : </a:t>
            </a:r>
            <a:r>
              <a:rPr lang="en-IN" sz="2000" b="0" i="0" u="none" strike="noStrike" dirty="0">
                <a:solidFill>
                  <a:srgbClr val="000000"/>
                </a:solidFill>
                <a:effectLst/>
                <a:latin typeface="Cambria" panose="02040503050406030204" pitchFamily="18" charset="0"/>
                <a:ea typeface="Cambria" panose="02040503050406030204" pitchFamily="18" charset="0"/>
              </a:rPr>
              <a:t>The high-performance gradient boosting model used for all 3 prediction tasks. </a:t>
            </a:r>
            <a:endParaRPr lang="en-IN" sz="2000" b="0" dirty="0">
              <a:effectLst/>
              <a:latin typeface="Cambria" panose="02040503050406030204" pitchFamily="18" charset="0"/>
              <a:ea typeface="Cambria" panose="02040503050406030204" pitchFamily="18" charset="0"/>
            </a:endParaRPr>
          </a:p>
          <a:p>
            <a:pPr marL="342900" indent="-342900" rtl="0">
              <a:spcBef>
                <a:spcPts val="0"/>
              </a:spcBef>
              <a:spcAft>
                <a:spcPts val="0"/>
              </a:spcAft>
              <a:buFont typeface="Arial" panose="020B0604020202020204" pitchFamily="34" charset="0"/>
              <a:buChar char="•"/>
            </a:pPr>
            <a:r>
              <a:rPr lang="en-IN" sz="2000" b="1" i="0" u="none" strike="noStrike" dirty="0">
                <a:solidFill>
                  <a:srgbClr val="000000"/>
                </a:solidFill>
                <a:effectLst/>
                <a:latin typeface="Cambria" panose="02040503050406030204" pitchFamily="18" charset="0"/>
                <a:ea typeface="Cambria" panose="02040503050406030204" pitchFamily="18" charset="0"/>
              </a:rPr>
              <a:t>Visualization : </a:t>
            </a:r>
            <a:r>
              <a:rPr lang="en-IN" sz="2000" b="0" i="0" u="none" strike="noStrike" dirty="0">
                <a:solidFill>
                  <a:srgbClr val="000000"/>
                </a:solidFill>
                <a:effectLst/>
                <a:latin typeface="Cambria" panose="02040503050406030204" pitchFamily="18" charset="0"/>
                <a:ea typeface="Cambria" panose="02040503050406030204" pitchFamily="18" charset="0"/>
              </a:rPr>
              <a:t>Matplotlib, Seaborn (for analysis) &amp; </a:t>
            </a:r>
            <a:r>
              <a:rPr lang="en-IN" sz="2000" b="0" i="0" u="none" strike="noStrike" dirty="0" err="1">
                <a:solidFill>
                  <a:srgbClr val="000000"/>
                </a:solidFill>
                <a:effectLst/>
                <a:latin typeface="Cambria" panose="02040503050406030204" pitchFamily="18" charset="0"/>
                <a:ea typeface="Cambria" panose="02040503050406030204" pitchFamily="18" charset="0"/>
              </a:rPr>
              <a:t>Plotly</a:t>
            </a:r>
            <a:r>
              <a:rPr lang="en-IN" sz="2000" b="0" i="0" u="none" strike="noStrike" dirty="0">
                <a:solidFill>
                  <a:srgbClr val="000000"/>
                </a:solidFill>
                <a:effectLst/>
                <a:latin typeface="Cambria" panose="02040503050406030204" pitchFamily="18" charset="0"/>
                <a:ea typeface="Cambria" panose="02040503050406030204" pitchFamily="18" charset="0"/>
              </a:rPr>
              <a:t> (for the interactive app). </a:t>
            </a:r>
            <a:endParaRPr lang="en-IN" sz="2000" b="0" dirty="0">
              <a:effectLst/>
              <a:latin typeface="Cambria" panose="02040503050406030204" pitchFamily="18" charset="0"/>
              <a:ea typeface="Cambria" panose="02040503050406030204" pitchFamily="18" charset="0"/>
            </a:endParaRPr>
          </a:p>
          <a:p>
            <a:pPr marL="342900" indent="-342900" rtl="0">
              <a:spcBef>
                <a:spcPts val="0"/>
              </a:spcBef>
              <a:spcAft>
                <a:spcPts val="0"/>
              </a:spcAft>
              <a:buFont typeface="Arial" panose="020B0604020202020204" pitchFamily="34" charset="0"/>
              <a:buChar char="•"/>
            </a:pPr>
            <a:r>
              <a:rPr lang="en-IN" sz="2000" b="1" i="0" u="none" strike="noStrike" dirty="0">
                <a:solidFill>
                  <a:srgbClr val="000000"/>
                </a:solidFill>
                <a:effectLst/>
                <a:latin typeface="Cambria" panose="02040503050406030204" pitchFamily="18" charset="0"/>
                <a:ea typeface="Cambria" panose="02040503050406030204" pitchFamily="18" charset="0"/>
              </a:rPr>
              <a:t>Deployment :</a:t>
            </a:r>
            <a:r>
              <a:rPr lang="en-IN" sz="2000" b="0" i="0" u="none" strike="noStrike" dirty="0">
                <a:solidFill>
                  <a:srgbClr val="000000"/>
                </a:solidFill>
                <a:effectLst/>
                <a:latin typeface="Cambria" panose="02040503050406030204" pitchFamily="18" charset="0"/>
                <a:ea typeface="Cambria" panose="02040503050406030204" pitchFamily="18" charset="0"/>
              </a:rPr>
              <a:t> </a:t>
            </a:r>
            <a:r>
              <a:rPr lang="en-IN" sz="2000" b="0" i="0" u="none" strike="noStrike" dirty="0" err="1">
                <a:solidFill>
                  <a:srgbClr val="000000"/>
                </a:solidFill>
                <a:effectLst/>
                <a:latin typeface="Cambria" panose="02040503050406030204" pitchFamily="18" charset="0"/>
                <a:ea typeface="Cambria" panose="02040503050406030204" pitchFamily="18" charset="0"/>
              </a:rPr>
              <a:t>Streamlit</a:t>
            </a:r>
            <a:r>
              <a:rPr lang="en-IN" sz="2000" b="0" i="0" u="none" strike="noStrike" dirty="0">
                <a:solidFill>
                  <a:srgbClr val="000000"/>
                </a:solidFill>
                <a:effectLst/>
                <a:latin typeface="Cambria" panose="02040503050406030204" pitchFamily="18" charset="0"/>
                <a:ea typeface="Cambria" panose="02040503050406030204" pitchFamily="18" charset="0"/>
              </a:rPr>
              <a:t> (for building and hosting the web app). </a:t>
            </a:r>
            <a:endParaRPr lang="en-IN" sz="2000" b="0" dirty="0">
              <a:effectLst/>
              <a:latin typeface="Cambria" panose="02040503050406030204" pitchFamily="18" charset="0"/>
              <a:ea typeface="Cambria" panose="02040503050406030204" pitchFamily="18" charset="0"/>
            </a:endParaRPr>
          </a:p>
          <a:p>
            <a:pPr marL="342900" indent="-342900" rtl="0">
              <a:spcBef>
                <a:spcPts val="0"/>
              </a:spcBef>
              <a:spcAft>
                <a:spcPts val="0"/>
              </a:spcAft>
              <a:buFont typeface="Arial" panose="020B0604020202020204" pitchFamily="34" charset="0"/>
              <a:buChar char="•"/>
            </a:pPr>
            <a:r>
              <a:rPr lang="en-IN" sz="2000" b="1" i="0" u="none" strike="noStrike" dirty="0">
                <a:solidFill>
                  <a:srgbClr val="000000"/>
                </a:solidFill>
                <a:effectLst/>
                <a:latin typeface="Cambria" panose="02040503050406030204" pitchFamily="18" charset="0"/>
                <a:ea typeface="Cambria" panose="02040503050406030204" pitchFamily="18" charset="0"/>
              </a:rPr>
              <a:t>Model Management : </a:t>
            </a:r>
            <a:r>
              <a:rPr lang="en-IN" sz="2000" b="0" i="0" u="none" strike="noStrike" dirty="0" err="1">
                <a:solidFill>
                  <a:srgbClr val="000000"/>
                </a:solidFill>
                <a:effectLst/>
                <a:latin typeface="Cambria" panose="02040503050406030204" pitchFamily="18" charset="0"/>
                <a:ea typeface="Cambria" panose="02040503050406030204" pitchFamily="18" charset="0"/>
              </a:rPr>
              <a:t>Joblib</a:t>
            </a:r>
            <a:r>
              <a:rPr lang="en-IN" sz="2000" b="0" i="0" u="none" strike="noStrike" dirty="0">
                <a:solidFill>
                  <a:srgbClr val="000000"/>
                </a:solidFill>
                <a:effectLst/>
                <a:latin typeface="Cambria" panose="02040503050406030204" pitchFamily="18" charset="0"/>
                <a:ea typeface="Cambria" panose="02040503050406030204" pitchFamily="18" charset="0"/>
              </a:rPr>
              <a:t> (for saving and loading the trained .</a:t>
            </a:r>
            <a:r>
              <a:rPr lang="en-IN" sz="2000" b="0" i="0" u="none" strike="noStrike" dirty="0" err="1">
                <a:solidFill>
                  <a:srgbClr val="000000"/>
                </a:solidFill>
                <a:effectLst/>
                <a:latin typeface="Cambria" panose="02040503050406030204" pitchFamily="18" charset="0"/>
                <a:ea typeface="Cambria" panose="02040503050406030204" pitchFamily="18" charset="0"/>
              </a:rPr>
              <a:t>joblib</a:t>
            </a:r>
            <a:r>
              <a:rPr lang="en-IN" sz="2000" b="0" i="0" u="none" strike="noStrike" dirty="0">
                <a:solidFill>
                  <a:srgbClr val="000000"/>
                </a:solidFill>
                <a:effectLst/>
                <a:latin typeface="Cambria" panose="02040503050406030204" pitchFamily="18" charset="0"/>
                <a:ea typeface="Cambria" panose="02040503050406030204" pitchFamily="18" charset="0"/>
              </a:rPr>
              <a:t> models). </a:t>
            </a:r>
            <a:endParaRPr lang="en-IN" sz="2000" b="0"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64571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573156" y="1243256"/>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Methodology </a:t>
            </a:r>
            <a:endParaRPr lang="en-IN" sz="3200" dirty="0">
              <a:solidFill>
                <a:srgbClr val="213163"/>
              </a:solidFill>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D99029E7-802F-45FB-A03F-CBA5B7B65F8A}"/>
              </a:ext>
            </a:extLst>
          </p:cNvPr>
          <p:cNvSpPr>
            <a:spLocks noChangeArrowheads="1"/>
          </p:cNvSpPr>
          <p:nvPr/>
        </p:nvSpPr>
        <p:spPr bwMode="auto">
          <a:xfrm>
            <a:off x="573156" y="3275112"/>
            <a:ext cx="992720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Task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Data Importing, Pre-Processing, and Visualization.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Action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US" sz="2000" b="0" i="0" u="none" strike="noStrike" dirty="0">
                <a:solidFill>
                  <a:srgbClr val="000000"/>
                </a:solidFill>
                <a:effectLst/>
                <a:latin typeface="Cambria" panose="02040503050406030204" pitchFamily="18" charset="0"/>
                <a:ea typeface="Cambria" panose="02040503050406030204" pitchFamily="18" charset="0"/>
              </a:rPr>
              <a:t>Loaded and cleaned the raw dataset with Pandas. Performed Exploratory Data Analysis (EDA) to visualize daily and seasonal patterns of solar, wind, and load. Engineered new features (e.g., lag, rolling averages) to improve model accuracy.</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A5082A50-23BF-4A4D-98AB-A59CF1D2F933}"/>
              </a:ext>
            </a:extLst>
          </p:cNvPr>
          <p:cNvSpPr txBox="1"/>
          <p:nvPr/>
        </p:nvSpPr>
        <p:spPr>
          <a:xfrm>
            <a:off x="573156" y="2438687"/>
            <a:ext cx="7067164" cy="461665"/>
          </a:xfrm>
          <a:prstGeom prst="rect">
            <a:avLst/>
          </a:prstGeom>
          <a:noFill/>
        </p:spPr>
        <p:txBody>
          <a:bodyPr wrap="square">
            <a:spAutoFit/>
          </a:bodyPr>
          <a:lstStyle/>
          <a:p>
            <a:r>
              <a:rPr lang="en-US" sz="2400" b="1" dirty="0">
                <a:latin typeface="Cambria" panose="02040503050406030204" pitchFamily="18" charset="0"/>
                <a:ea typeface="Cambria" panose="02040503050406030204" pitchFamily="18" charset="0"/>
              </a:rPr>
              <a:t>Week 1 : </a:t>
            </a:r>
            <a:r>
              <a:rPr lang="en-IN" sz="2400" b="1" i="0" u="none" strike="noStrike" dirty="0">
                <a:solidFill>
                  <a:srgbClr val="000000"/>
                </a:solidFill>
                <a:effectLst/>
                <a:latin typeface="Cambria" panose="02040503050406030204" pitchFamily="18" charset="0"/>
                <a:ea typeface="Cambria" panose="02040503050406030204" pitchFamily="18" charset="0"/>
              </a:rPr>
              <a:t>Data </a:t>
            </a:r>
            <a:r>
              <a:rPr lang="en-IN" sz="2400" b="1" i="0" u="none" strike="noStrike" dirty="0" err="1">
                <a:solidFill>
                  <a:srgbClr val="000000"/>
                </a:solidFill>
                <a:effectLst/>
                <a:latin typeface="Cambria" panose="02040503050406030204" pitchFamily="18" charset="0"/>
                <a:ea typeface="Cambria" panose="02040503050406030204" pitchFamily="18" charset="0"/>
              </a:rPr>
              <a:t>Preprocessing</a:t>
            </a:r>
            <a:r>
              <a:rPr lang="en-IN" sz="2400" b="1" i="0" u="none" strike="noStrike" dirty="0">
                <a:solidFill>
                  <a:srgbClr val="000000"/>
                </a:solidFill>
                <a:effectLst/>
                <a:latin typeface="Cambria" panose="02040503050406030204" pitchFamily="18" charset="0"/>
                <a:ea typeface="Cambria" panose="02040503050406030204" pitchFamily="18" charset="0"/>
              </a:rPr>
              <a:t> &amp; Visualization</a:t>
            </a:r>
            <a:endParaRPr lang="en-US" sz="24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06790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573156" y="1243256"/>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Methodology </a:t>
            </a:r>
            <a:endParaRPr lang="en-IN" sz="3200" dirty="0">
              <a:solidFill>
                <a:srgbClr val="213163"/>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A5082A50-23BF-4A4D-98AB-A59CF1D2F933}"/>
              </a:ext>
            </a:extLst>
          </p:cNvPr>
          <p:cNvSpPr txBox="1"/>
          <p:nvPr/>
        </p:nvSpPr>
        <p:spPr>
          <a:xfrm>
            <a:off x="573156" y="2438687"/>
            <a:ext cx="6103620" cy="461665"/>
          </a:xfrm>
          <a:prstGeom prst="rect">
            <a:avLst/>
          </a:prstGeom>
          <a:noFill/>
        </p:spPr>
        <p:txBody>
          <a:bodyPr wrap="square">
            <a:spAutoFit/>
          </a:bodyPr>
          <a:lstStyle/>
          <a:p>
            <a:r>
              <a:rPr lang="en-US" sz="2400" b="1" dirty="0">
                <a:latin typeface="Cambria" panose="02040503050406030204" pitchFamily="18" charset="0"/>
                <a:ea typeface="Cambria" panose="02040503050406030204" pitchFamily="18" charset="0"/>
              </a:rPr>
              <a:t>Week 2 : </a:t>
            </a:r>
            <a:r>
              <a:rPr lang="en-IN" sz="2400" b="1" i="0" u="none" strike="noStrike" dirty="0">
                <a:solidFill>
                  <a:srgbClr val="000000"/>
                </a:solidFill>
                <a:effectLst/>
                <a:latin typeface="Cambria" panose="02040503050406030204" pitchFamily="18" charset="0"/>
                <a:ea typeface="Cambria" panose="02040503050406030204" pitchFamily="18" charset="0"/>
              </a:rPr>
              <a:t>Model Selection &amp; Building</a:t>
            </a:r>
            <a:endParaRPr lang="en-US" sz="2400" b="1" dirty="0">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C853AD1F-3BEF-4E27-B510-E832F119033E}"/>
              </a:ext>
            </a:extLst>
          </p:cNvPr>
          <p:cNvSpPr>
            <a:spLocks noChangeArrowheads="1"/>
          </p:cNvSpPr>
          <p:nvPr/>
        </p:nvSpPr>
        <p:spPr bwMode="auto">
          <a:xfrm>
            <a:off x="573156" y="3398754"/>
            <a:ext cx="997292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Task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Model Selection &amp; Building. </a:t>
            </a:r>
          </a:p>
          <a:p>
            <a:pPr marL="0" marR="0" lvl="0" indent="0" algn="l" defTabSz="914400" rtl="0" eaLnBrk="0" fontAlgn="base" latinLnBrk="0" hangingPunct="0">
              <a:lnSpc>
                <a:spcPct val="100000"/>
              </a:lnSpc>
              <a:spcBef>
                <a:spcPct val="0"/>
              </a:spcBef>
              <a:spcAft>
                <a:spcPct val="0"/>
              </a:spcAft>
              <a:buClrTx/>
              <a:buSzTx/>
              <a:tabLst/>
            </a:pPr>
            <a:endParaRPr lang="en-US" altLang="en-US" sz="2000" dirty="0">
              <a:solidFill>
                <a:schemeClr val="tx1"/>
              </a:solidFill>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Action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US" sz="1800" b="0" i="0" u="none" strike="noStrike" dirty="0">
                <a:solidFill>
                  <a:srgbClr val="000000"/>
                </a:solidFill>
                <a:effectLst/>
                <a:latin typeface="Arial" panose="020B0604020202020204" pitchFamily="34" charset="0"/>
              </a:rPr>
              <a:t>Trained and evaluated multiple algorithms (Linear Regression, Random Forest, </a:t>
            </a:r>
            <a:r>
              <a:rPr lang="en-US" sz="1800" b="0" i="0" u="none" strike="noStrike" dirty="0" err="1">
                <a:solidFill>
                  <a:srgbClr val="000000"/>
                </a:solidFill>
                <a:effectLst/>
                <a:latin typeface="Arial" panose="020B0604020202020204" pitchFamily="34" charset="0"/>
              </a:rPr>
              <a:t>XGBoost</a:t>
            </a:r>
            <a:r>
              <a:rPr lang="en-US" sz="1800" b="0" i="0" u="none" strike="noStrike" dirty="0">
                <a:solidFill>
                  <a:srgbClr val="000000"/>
                </a:solidFill>
                <a:effectLst/>
                <a:latin typeface="Arial" panose="020B0604020202020204" pitchFamily="34" charset="0"/>
              </a:rPr>
              <a:t>). Selected </a:t>
            </a:r>
            <a:r>
              <a:rPr lang="en-US" sz="1800" b="0" i="0" u="none" strike="noStrike" dirty="0" err="1">
                <a:solidFill>
                  <a:srgbClr val="000000"/>
                </a:solidFill>
                <a:effectLst/>
                <a:latin typeface="Arial" panose="020B0604020202020204" pitchFamily="34" charset="0"/>
              </a:rPr>
              <a:t>XGBoost</a:t>
            </a:r>
            <a:r>
              <a:rPr lang="en-US" sz="1800" b="0" i="0" u="none" strike="noStrike" dirty="0">
                <a:solidFill>
                  <a:srgbClr val="000000"/>
                </a:solidFill>
                <a:effectLst/>
                <a:latin typeface="Arial" panose="020B0604020202020204" pitchFamily="34" charset="0"/>
              </a:rPr>
              <a:t> Regressor as the champion model for all three targets due to its superior R² score (over 0.96 for all models). </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47995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573156" y="1243256"/>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Methodology </a:t>
            </a:r>
            <a:endParaRPr lang="en-IN" sz="3200" dirty="0">
              <a:solidFill>
                <a:srgbClr val="213163"/>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A5082A50-23BF-4A4D-98AB-A59CF1D2F933}"/>
              </a:ext>
            </a:extLst>
          </p:cNvPr>
          <p:cNvSpPr txBox="1"/>
          <p:nvPr/>
        </p:nvSpPr>
        <p:spPr>
          <a:xfrm>
            <a:off x="573156" y="2438687"/>
            <a:ext cx="6103620" cy="461665"/>
          </a:xfrm>
          <a:prstGeom prst="rect">
            <a:avLst/>
          </a:prstGeom>
          <a:noFill/>
        </p:spPr>
        <p:txBody>
          <a:bodyPr wrap="square">
            <a:spAutoFit/>
          </a:bodyPr>
          <a:lstStyle/>
          <a:p>
            <a:r>
              <a:rPr lang="en-IN" sz="2400" b="1" dirty="0">
                <a:latin typeface="Cambria" panose="02040503050406030204" pitchFamily="18" charset="0"/>
                <a:ea typeface="Cambria" panose="02040503050406030204" pitchFamily="18" charset="0"/>
              </a:rPr>
              <a:t>Week 3 : Simulation &amp; Deployment</a:t>
            </a:r>
            <a:endParaRPr lang="en-IN" sz="2400" dirty="0">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C853AD1F-3BEF-4E27-B510-E832F119033E}"/>
              </a:ext>
            </a:extLst>
          </p:cNvPr>
          <p:cNvSpPr>
            <a:spLocks noChangeArrowheads="1"/>
          </p:cNvSpPr>
          <p:nvPr/>
        </p:nvSpPr>
        <p:spPr bwMode="auto">
          <a:xfrm>
            <a:off x="573156" y="3398754"/>
            <a:ext cx="997292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Cambria" panose="02040503050406030204" pitchFamily="18" charset="0"/>
                <a:ea typeface="Cambria" panose="02040503050406030204" pitchFamily="18" charset="0"/>
              </a:rPr>
              <a:t>Task :</a:t>
            </a:r>
            <a:r>
              <a:rPr lang="en-US" sz="2000" dirty="0">
                <a:latin typeface="Cambria" panose="02040503050406030204" pitchFamily="18" charset="0"/>
                <a:ea typeface="Cambria" panose="02040503050406030204" pitchFamily="18" charset="0"/>
              </a:rPr>
              <a:t> </a:t>
            </a:r>
            <a:r>
              <a:rPr lang="en-IN" sz="2000" b="0" i="0" u="none" strike="noStrike" dirty="0">
                <a:solidFill>
                  <a:srgbClr val="000000"/>
                </a:solidFill>
                <a:effectLst/>
                <a:latin typeface="Cambria" panose="02040503050406030204" pitchFamily="18" charset="0"/>
                <a:ea typeface="Cambria" panose="02040503050406030204" pitchFamily="18" charset="0"/>
              </a:rPr>
              <a:t>Controller Simulation &amp; Deployment</a:t>
            </a:r>
            <a:r>
              <a:rPr lang="en-US" sz="2000" dirty="0">
                <a:latin typeface="Cambria" panose="02040503050406030204" pitchFamily="18" charset="0"/>
                <a:ea typeface="Cambria" panose="02040503050406030204" pitchFamily="18" charset="0"/>
              </a:rPr>
              <a:t>. </a:t>
            </a:r>
          </a:p>
          <a:p>
            <a:endParaRPr lang="en-US" sz="2000" b="1"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Action :</a:t>
            </a:r>
            <a:r>
              <a:rPr lang="en-US" sz="2000" dirty="0">
                <a:latin typeface="Cambria" panose="02040503050406030204" pitchFamily="18" charset="0"/>
                <a:ea typeface="Cambria" panose="02040503050406030204" pitchFamily="18" charset="0"/>
              </a:rPr>
              <a:t> </a:t>
            </a:r>
            <a:r>
              <a:rPr lang="en-US" sz="2000" b="0" i="0" u="none" strike="noStrike" dirty="0">
                <a:solidFill>
                  <a:srgbClr val="000000"/>
                </a:solidFill>
                <a:effectLst/>
                <a:latin typeface="Cambria" panose="02040503050406030204" pitchFamily="18" charset="0"/>
                <a:ea typeface="Cambria" panose="02040503050406030204" pitchFamily="18" charset="0"/>
              </a:rPr>
              <a:t>Built a "Smart Controller" algorithm in Python. Used the 3 trained models to generate forecasts, which the controller used to simulate optimal battery and grid decisions. Deployed the final controller as a </a:t>
            </a:r>
            <a:r>
              <a:rPr lang="en-US" sz="2000" b="0" i="0" u="none" strike="noStrike" dirty="0" err="1">
                <a:solidFill>
                  <a:srgbClr val="000000"/>
                </a:solidFill>
                <a:effectLst/>
                <a:latin typeface="Cambria" panose="02040503050406030204" pitchFamily="18" charset="0"/>
                <a:ea typeface="Cambria" panose="02040503050406030204" pitchFamily="18" charset="0"/>
              </a:rPr>
              <a:t>Streamlit</a:t>
            </a:r>
            <a:r>
              <a:rPr lang="en-US" sz="2000" b="0" i="0" u="none" strike="noStrike" dirty="0">
                <a:solidFill>
                  <a:srgbClr val="000000"/>
                </a:solidFill>
                <a:effectLst/>
                <a:latin typeface="Cambria" panose="02040503050406030204" pitchFamily="18" charset="0"/>
                <a:ea typeface="Cambria" panose="02040503050406030204" pitchFamily="18" charset="0"/>
              </a:rPr>
              <a:t> web app. </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95292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529424" y="1145852"/>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Problem Statement</a:t>
            </a:r>
            <a:endParaRPr lang="en-IN" sz="3200" b="1" dirty="0">
              <a:solidFill>
                <a:srgbClr val="213163"/>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C8A2A131-2A7C-42B6-940C-7D94BBBE908B}"/>
              </a:ext>
            </a:extLst>
          </p:cNvPr>
          <p:cNvSpPr txBox="1"/>
          <p:nvPr/>
        </p:nvSpPr>
        <p:spPr>
          <a:xfrm>
            <a:off x="529424" y="2337584"/>
            <a:ext cx="9498496" cy="1015663"/>
          </a:xfrm>
          <a:prstGeom prst="rect">
            <a:avLst/>
          </a:prstGeom>
          <a:noFill/>
        </p:spPr>
        <p:txBody>
          <a:bodyPr wrap="square">
            <a:spAutoFit/>
          </a:bodyPr>
          <a:lstStyle/>
          <a:p>
            <a:r>
              <a:rPr lang="en-US" sz="2000" b="0" i="0" u="none" strike="noStrike" dirty="0">
                <a:solidFill>
                  <a:srgbClr val="000000"/>
                </a:solidFill>
                <a:effectLst/>
                <a:latin typeface="Cambria" panose="02040503050406030204" pitchFamily="18" charset="0"/>
                <a:ea typeface="Cambria" panose="02040503050406030204" pitchFamily="18" charset="0"/>
              </a:rPr>
              <a:t>Hybrid renewable energy systems (solar/wind) are unstable due to unpredictable weather and variable user demand. This leads to power instability, unnecessary stress on the battery, and energy wastage. </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965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483704" y="1161092"/>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Solution</a:t>
            </a:r>
            <a:endParaRPr lang="en-IN" sz="3200" b="1" dirty="0">
              <a:solidFill>
                <a:srgbClr val="213163"/>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29FB3D35-98FF-4FEB-936A-726DA5D2940E}"/>
              </a:ext>
            </a:extLst>
          </p:cNvPr>
          <p:cNvSpPr txBox="1"/>
          <p:nvPr/>
        </p:nvSpPr>
        <p:spPr>
          <a:xfrm>
            <a:off x="651344" y="2453405"/>
            <a:ext cx="9483256" cy="1015663"/>
          </a:xfrm>
          <a:prstGeom prst="rect">
            <a:avLst/>
          </a:prstGeom>
          <a:noFill/>
        </p:spPr>
        <p:txBody>
          <a:bodyPr wrap="square">
            <a:spAutoFit/>
          </a:bodyPr>
          <a:lstStyle/>
          <a:p>
            <a:r>
              <a:rPr lang="en-US" sz="2000" b="0" i="0" u="none" strike="noStrike" dirty="0">
                <a:solidFill>
                  <a:srgbClr val="000000"/>
                </a:solidFill>
                <a:effectLst/>
                <a:latin typeface="Cambria" panose="02040503050406030204" pitchFamily="18" charset="0"/>
                <a:ea typeface="Cambria" panose="02040503050406030204" pitchFamily="18" charset="0"/>
              </a:rPr>
              <a:t>An AI-powered system that forecasts these variables. It uses the predictions to create an intelligent battery charging/discharging strategy, effectively balancing the grid, protecting the battery, and ensuring an uninterrupted power supply.</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02968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Screenshot of Output</a:t>
            </a:r>
            <a:endParaRPr lang="en-IN" sz="3200" b="1" dirty="0">
              <a:solidFill>
                <a:srgbClr val="213163"/>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1DE01316-FF70-4DBE-839E-24CDB864E4DD}"/>
              </a:ext>
            </a:extLst>
          </p:cNvPr>
          <p:cNvSpPr txBox="1"/>
          <p:nvPr/>
        </p:nvSpPr>
        <p:spPr>
          <a:xfrm>
            <a:off x="255104" y="1738032"/>
            <a:ext cx="6103620" cy="461665"/>
          </a:xfrm>
          <a:prstGeom prst="rect">
            <a:avLst/>
          </a:prstGeom>
          <a:noFill/>
        </p:spPr>
        <p:txBody>
          <a:bodyPr wrap="square">
            <a:spAutoFit/>
          </a:bodyPr>
          <a:lstStyle/>
          <a:p>
            <a:r>
              <a:rPr lang="en-IN" sz="2400" b="1" dirty="0">
                <a:latin typeface="Cambria" panose="02040503050406030204" pitchFamily="18" charset="0"/>
                <a:ea typeface="Cambria" panose="02040503050406030204" pitchFamily="18" charset="0"/>
              </a:rPr>
              <a:t>The Live Application</a:t>
            </a:r>
          </a:p>
        </p:txBody>
      </p:sp>
      <p:pic>
        <p:nvPicPr>
          <p:cNvPr id="5" name="Picture 4">
            <a:extLst>
              <a:ext uri="{FF2B5EF4-FFF2-40B4-BE49-F238E27FC236}">
                <a16:creationId xmlns:a16="http://schemas.microsoft.com/office/drawing/2014/main" id="{0A4717EF-E921-490B-9900-66CEF9F29168}"/>
              </a:ext>
            </a:extLst>
          </p:cNvPr>
          <p:cNvPicPr>
            <a:picLocks noChangeAspect="1"/>
          </p:cNvPicPr>
          <p:nvPr/>
        </p:nvPicPr>
        <p:blipFill>
          <a:blip r:embed="rId2"/>
          <a:stretch>
            <a:fillRect/>
          </a:stretch>
        </p:blipFill>
        <p:spPr>
          <a:xfrm>
            <a:off x="1377040" y="2199697"/>
            <a:ext cx="9437920" cy="4461742"/>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Screenshot of Output</a:t>
            </a:r>
            <a:endParaRPr lang="en-IN" sz="3200" b="1" dirty="0">
              <a:solidFill>
                <a:srgbClr val="213163"/>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1DE01316-FF70-4DBE-839E-24CDB864E4DD}"/>
              </a:ext>
            </a:extLst>
          </p:cNvPr>
          <p:cNvSpPr txBox="1"/>
          <p:nvPr/>
        </p:nvSpPr>
        <p:spPr>
          <a:xfrm>
            <a:off x="255104" y="1738032"/>
            <a:ext cx="6103620" cy="461665"/>
          </a:xfrm>
          <a:prstGeom prst="rect">
            <a:avLst/>
          </a:prstGeom>
          <a:noFill/>
        </p:spPr>
        <p:txBody>
          <a:bodyPr wrap="square">
            <a:spAutoFit/>
          </a:bodyPr>
          <a:lstStyle/>
          <a:p>
            <a:r>
              <a:rPr lang="en-IN" sz="2400" b="1" dirty="0">
                <a:latin typeface="Cambria" panose="02040503050406030204" pitchFamily="18" charset="0"/>
                <a:ea typeface="Cambria" panose="02040503050406030204" pitchFamily="18" charset="0"/>
              </a:rPr>
              <a:t>The Live Application</a:t>
            </a:r>
          </a:p>
        </p:txBody>
      </p:sp>
      <p:pic>
        <p:nvPicPr>
          <p:cNvPr id="6" name="Picture 5">
            <a:extLst>
              <a:ext uri="{FF2B5EF4-FFF2-40B4-BE49-F238E27FC236}">
                <a16:creationId xmlns:a16="http://schemas.microsoft.com/office/drawing/2014/main" id="{ECE0633A-4742-421C-8A79-84AF80211718}"/>
              </a:ext>
            </a:extLst>
          </p:cNvPr>
          <p:cNvPicPr>
            <a:picLocks noChangeAspect="1"/>
          </p:cNvPicPr>
          <p:nvPr/>
        </p:nvPicPr>
        <p:blipFill>
          <a:blip r:embed="rId2"/>
          <a:stretch>
            <a:fillRect/>
          </a:stretch>
        </p:blipFill>
        <p:spPr>
          <a:xfrm>
            <a:off x="1885266" y="2298542"/>
            <a:ext cx="8421468" cy="4417911"/>
          </a:xfrm>
          <a:prstGeom prst="rect">
            <a:avLst/>
          </a:prstGeom>
        </p:spPr>
      </p:pic>
    </p:spTree>
    <p:extLst>
      <p:ext uri="{BB962C8B-B14F-4D97-AF65-F5344CB8AC3E}">
        <p14:creationId xmlns:p14="http://schemas.microsoft.com/office/powerpoint/2010/main" val="149947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469127" y="1033871"/>
            <a:ext cx="6102626" cy="584775"/>
          </a:xfrm>
          <a:prstGeom prst="rect">
            <a:avLst/>
          </a:prstGeom>
          <a:noFill/>
        </p:spPr>
        <p:txBody>
          <a:bodyPr wrap="square">
            <a:spAutoFit/>
          </a:bodyPr>
          <a:lstStyle/>
          <a:p>
            <a:r>
              <a:rPr lang="en-US" sz="3200" b="1" dirty="0">
                <a:solidFill>
                  <a:srgbClr val="213163"/>
                </a:solidFill>
                <a:latin typeface="Cambria" panose="02040503050406030204" pitchFamily="18" charset="0"/>
                <a:ea typeface="Cambria" panose="02040503050406030204" pitchFamily="18" charset="0"/>
              </a:rPr>
              <a:t>Conclusion</a:t>
            </a:r>
            <a:endParaRPr lang="en-IN" sz="3200" dirty="0">
              <a:solidFill>
                <a:srgbClr val="213163"/>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36CCC8B4-CFC7-4EB2-89B9-517F784CB83E}"/>
              </a:ext>
            </a:extLst>
          </p:cNvPr>
          <p:cNvSpPr txBox="1"/>
          <p:nvPr/>
        </p:nvSpPr>
        <p:spPr>
          <a:xfrm>
            <a:off x="469126" y="1803892"/>
            <a:ext cx="11113273" cy="4401205"/>
          </a:xfrm>
          <a:prstGeom prst="rect">
            <a:avLst/>
          </a:prstGeom>
          <a:noFill/>
        </p:spPr>
        <p:txBody>
          <a:bodyPr wrap="square">
            <a:spAutoFit/>
          </a:bodyPr>
          <a:lstStyle/>
          <a:p>
            <a:pPr marL="285750" indent="-285750" rtl="0">
              <a:spcBef>
                <a:spcPts val="0"/>
              </a:spcBef>
              <a:spcAft>
                <a:spcPts val="0"/>
              </a:spcAft>
              <a:buFont typeface="Arial" panose="020B0604020202020204" pitchFamily="34" charset="0"/>
              <a:buChar char="•"/>
            </a:pPr>
            <a:r>
              <a:rPr lang="en-US" sz="2000" b="1" i="0" u="none" strike="noStrike" dirty="0">
                <a:solidFill>
                  <a:srgbClr val="000000"/>
                </a:solidFill>
                <a:effectLst/>
                <a:latin typeface="Cambria" panose="02040503050406030204" pitchFamily="18" charset="0"/>
                <a:ea typeface="Cambria" panose="02040503050406030204" pitchFamily="18" charset="0"/>
              </a:rPr>
              <a:t>Impact : </a:t>
            </a:r>
            <a:r>
              <a:rPr lang="en-US" sz="2000" b="0" i="0" u="none" strike="noStrike" dirty="0">
                <a:solidFill>
                  <a:srgbClr val="000000"/>
                </a:solidFill>
                <a:effectLst/>
                <a:latin typeface="Cambria" panose="02040503050406030204" pitchFamily="18" charset="0"/>
                <a:ea typeface="Cambria" panose="02040503050406030204" pitchFamily="18" charset="0"/>
              </a:rPr>
              <a:t>This project demonstrates a "Green Skills" solution, proving that AI can solve grid stability issues. The controller optimizes battery life and reduces grid dependency, making renewable energy more reliable. </a:t>
            </a:r>
            <a:endParaRPr lang="en-US" sz="2000" b="0" dirty="0">
              <a:effectLst/>
              <a:latin typeface="Cambria" panose="02040503050406030204" pitchFamily="18" charset="0"/>
              <a:ea typeface="Cambria" panose="02040503050406030204" pitchFamily="18" charset="0"/>
            </a:endParaRPr>
          </a:p>
          <a:p>
            <a:pPr marL="285750" indent="-285750" rtl="0">
              <a:spcBef>
                <a:spcPts val="0"/>
              </a:spcBef>
              <a:spcAft>
                <a:spcPts val="0"/>
              </a:spcAft>
              <a:buFont typeface="Arial" panose="020B0604020202020204" pitchFamily="34" charset="0"/>
              <a:buChar char="•"/>
            </a:pPr>
            <a:r>
              <a:rPr lang="en-US" sz="2000" b="1" i="0" u="none" strike="noStrike" dirty="0">
                <a:solidFill>
                  <a:srgbClr val="000000"/>
                </a:solidFill>
                <a:effectLst/>
                <a:latin typeface="Cambria" panose="02040503050406030204" pitchFamily="18" charset="0"/>
                <a:ea typeface="Cambria" panose="02040503050406030204" pitchFamily="18" charset="0"/>
              </a:rPr>
              <a:t>Educational Value : </a:t>
            </a:r>
            <a:r>
              <a:rPr lang="en-US" sz="2000" b="0" i="0" u="none" strike="noStrike" dirty="0">
                <a:solidFill>
                  <a:srgbClr val="000000"/>
                </a:solidFill>
                <a:effectLst/>
                <a:latin typeface="Cambria" panose="02040503050406030204" pitchFamily="18" charset="0"/>
                <a:ea typeface="Cambria" panose="02040503050406030204" pitchFamily="18" charset="0"/>
              </a:rPr>
              <a:t>I successfully built a complete end-to-end ML pipeline: from raw data cleaning (Week 1) to model training (Week 2) and finally to a complex simulation and live web deployment (Week 3). </a:t>
            </a:r>
            <a:endParaRPr lang="en-US" sz="2000" b="0" dirty="0">
              <a:effectLst/>
              <a:latin typeface="Cambria" panose="02040503050406030204" pitchFamily="18" charset="0"/>
              <a:ea typeface="Cambria" panose="02040503050406030204" pitchFamily="18" charset="0"/>
            </a:endParaRPr>
          </a:p>
          <a:p>
            <a:pPr marL="285750" indent="-285750" rtl="0">
              <a:spcBef>
                <a:spcPts val="0"/>
              </a:spcBef>
              <a:spcAft>
                <a:spcPts val="0"/>
              </a:spcAft>
              <a:buFont typeface="Arial" panose="020B0604020202020204" pitchFamily="34" charset="0"/>
              <a:buChar char="•"/>
            </a:pPr>
            <a:r>
              <a:rPr lang="en-US" sz="2000" b="1" i="0" u="none" strike="noStrike" dirty="0">
                <a:solidFill>
                  <a:srgbClr val="000000"/>
                </a:solidFill>
                <a:effectLst/>
                <a:latin typeface="Cambria" panose="02040503050406030204" pitchFamily="18" charset="0"/>
                <a:ea typeface="Cambria" panose="02040503050406030204" pitchFamily="18" charset="0"/>
              </a:rPr>
              <a:t>Next Steps : </a:t>
            </a:r>
            <a:endParaRPr lang="en-US" sz="2000" b="1" dirty="0">
              <a:effectLst/>
              <a:latin typeface="Cambria" panose="02040503050406030204" pitchFamily="18" charset="0"/>
              <a:ea typeface="Cambria" panose="02040503050406030204" pitchFamily="18" charset="0"/>
            </a:endParaRPr>
          </a:p>
          <a:p>
            <a:pPr marL="285750" indent="-285750" rtl="0">
              <a:spcBef>
                <a:spcPts val="0"/>
              </a:spcBef>
              <a:spcAft>
                <a:spcPts val="0"/>
              </a:spcAft>
              <a:buFont typeface="Wingdings" panose="05000000000000000000" pitchFamily="2" charset="2"/>
              <a:buChar char="Ø"/>
            </a:pPr>
            <a:r>
              <a:rPr lang="en-US" sz="2000" b="0" i="0" u="none" strike="noStrike" dirty="0">
                <a:solidFill>
                  <a:srgbClr val="000000"/>
                </a:solidFill>
                <a:effectLst/>
                <a:latin typeface="Cambria" panose="02040503050406030204" pitchFamily="18" charset="0"/>
                <a:ea typeface="Cambria" panose="02040503050406030204" pitchFamily="18" charset="0"/>
              </a:rPr>
              <a:t>Integrate a live Weather API (like </a:t>
            </a:r>
            <a:r>
              <a:rPr lang="en-US" sz="2000" b="0" i="0" u="none" strike="noStrike" dirty="0" err="1">
                <a:solidFill>
                  <a:srgbClr val="000000"/>
                </a:solidFill>
                <a:effectLst/>
                <a:latin typeface="Cambria" panose="02040503050406030204" pitchFamily="18" charset="0"/>
                <a:ea typeface="Cambria" panose="02040503050406030204" pitchFamily="18" charset="0"/>
              </a:rPr>
              <a:t>OpenWeatherMap</a:t>
            </a:r>
            <a:r>
              <a:rPr lang="en-US" sz="2000" b="0" i="0" u="none" strike="noStrike" dirty="0">
                <a:solidFill>
                  <a:srgbClr val="000000"/>
                </a:solidFill>
                <a:effectLst/>
                <a:latin typeface="Cambria" panose="02040503050406030204" pitchFamily="18" charset="0"/>
                <a:ea typeface="Cambria" panose="02040503050406030204" pitchFamily="18" charset="0"/>
              </a:rPr>
              <a:t>) to use real-time data instead of historical. </a:t>
            </a:r>
            <a:endParaRPr lang="en-US" sz="2000" b="0" dirty="0">
              <a:effectLst/>
              <a:latin typeface="Cambria" panose="02040503050406030204" pitchFamily="18" charset="0"/>
              <a:ea typeface="Cambria" panose="02040503050406030204" pitchFamily="18" charset="0"/>
            </a:endParaRPr>
          </a:p>
          <a:p>
            <a:pPr marL="285750" indent="-285750" rtl="0">
              <a:spcBef>
                <a:spcPts val="0"/>
              </a:spcBef>
              <a:spcAft>
                <a:spcPts val="0"/>
              </a:spcAft>
              <a:buFont typeface="Wingdings" panose="05000000000000000000" pitchFamily="2" charset="2"/>
              <a:buChar char="Ø"/>
            </a:pPr>
            <a:r>
              <a:rPr lang="en-US" sz="2000" b="0" i="0" u="none" strike="noStrike" dirty="0">
                <a:solidFill>
                  <a:srgbClr val="000000"/>
                </a:solidFill>
                <a:effectLst/>
                <a:latin typeface="Cambria" panose="02040503050406030204" pitchFamily="18" charset="0"/>
                <a:ea typeface="Cambria" panose="02040503050406030204" pitchFamily="18" charset="0"/>
              </a:rPr>
              <a:t>Deploy the Python script on a hardware device (like a Raspberry Pi) to control a physical battery system.</a:t>
            </a:r>
            <a:endParaRPr lang="en-US" sz="2000" b="0" dirty="0">
              <a:effectLst/>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Live App Link :</a:t>
            </a:r>
            <a:r>
              <a:rPr lang="en-US"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hlinkClick r:id="rId2"/>
              </a:rPr>
              <a:t>https://hybrid-microgrid-controller.streamlit.app/</a:t>
            </a:r>
            <a:r>
              <a:rPr lang="en-US" sz="2000" dirty="0">
                <a:latin typeface="Cambria" panose="02040503050406030204" pitchFamily="18" charset="0"/>
                <a:ea typeface="Cambria" panose="02040503050406030204" pitchFamily="18" charset="0"/>
              </a:rPr>
              <a:t> </a:t>
            </a:r>
          </a:p>
          <a:p>
            <a:endParaRPr lang="en-US" sz="20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Project Repository : </a:t>
            </a:r>
            <a:r>
              <a:rPr lang="en-US" sz="2000" dirty="0">
                <a:latin typeface="Cambria" panose="02040503050406030204" pitchFamily="18" charset="0"/>
                <a:ea typeface="Cambria" panose="02040503050406030204" pitchFamily="18" charset="0"/>
                <a:hlinkClick r:id="rId3"/>
              </a:rPr>
              <a:t>https://github.com/DhammadeepRamteke/hybrid-microgrid-controller</a:t>
            </a:r>
            <a:r>
              <a:rPr lang="en-US" sz="20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AI Electricity Price Forecasting</Template>
  <TotalTime>22</TotalTime>
  <Words>732</Words>
  <Application>Microsoft Office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Cambria</vt:lpstr>
      <vt:lpstr>Wingdings</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DHAMMADEEP RAMTEKE</dc:creator>
  <cp:lastModifiedBy>DHAMMADEEP RAMTEKE</cp:lastModifiedBy>
  <cp:revision>3</cp:revision>
  <dcterms:created xsi:type="dcterms:W3CDTF">2025-11-17T16:21:25Z</dcterms:created>
  <dcterms:modified xsi:type="dcterms:W3CDTF">2025-11-17T16:44:04Z</dcterms:modified>
</cp:coreProperties>
</file>